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242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782" y="376518"/>
            <a:ext cx="1566582" cy="15665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Maen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Mohammed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Software Engineering  </a:t>
            </a: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201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192024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4407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Identified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06040" y="4023360"/>
            <a:ext cx="192024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0604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606040" y="4407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4023360"/>
            <a:ext cx="192024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754880" y="4407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03720" y="4023360"/>
            <a:ext cx="192024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03720" y="40416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903720" y="4407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120946-19B6-E6DF-186F-CEC13D65D12B}"/>
              </a:ext>
            </a:extLst>
          </p:cNvPr>
          <p:cNvSpPr/>
          <p:nvPr/>
        </p:nvSpPr>
        <p:spPr>
          <a:xfrm>
            <a:off x="6078519" y="2590038"/>
            <a:ext cx="27454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</a:t>
            </a: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Almohsen</a:t>
            </a: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202301554</a:t>
            </a:r>
            <a:endParaRPr lang="en-US" sz="13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A8E4C52-E0BD-F1FB-53E3-1AF7B5B5AF44}"/>
              </a:ext>
            </a:extLst>
          </p:cNvPr>
          <p:cNvSpPr/>
          <p:nvPr/>
        </p:nvSpPr>
        <p:spPr>
          <a:xfrm>
            <a:off x="6078519" y="2903220"/>
            <a:ext cx="27454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ALReem</a:t>
            </a: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Habash</a:t>
            </a: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202200669</a:t>
            </a:r>
            <a:endParaRPr lang="en-US" sz="13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6D0A4B3-8045-C60F-E610-C5B2E7A01836}"/>
              </a:ext>
            </a:extLst>
          </p:cNvPr>
          <p:cNvSpPr/>
          <p:nvPr/>
        </p:nvSpPr>
        <p:spPr>
          <a:xfrm>
            <a:off x="6078519" y="3465576"/>
            <a:ext cx="27454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Aleya</a:t>
            </a: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Alotaibi| 202201786</a:t>
            </a:r>
            <a:endParaRPr lang="en-US" sz="13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4A75E46D-79DF-A1D3-E400-F147395DBE9B}"/>
              </a:ext>
            </a:extLst>
          </p:cNvPr>
          <p:cNvSpPr/>
          <p:nvPr/>
        </p:nvSpPr>
        <p:spPr>
          <a:xfrm>
            <a:off x="6078519" y="3187159"/>
            <a:ext cx="27454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</a:t>
            </a:r>
            <a:r>
              <a:rPr lang="en-US" sz="1300" b="1" dirty="0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Alhashem</a:t>
            </a: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202300583</a:t>
            </a:r>
            <a:endParaRPr lang="en-US" sz="13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D168C174-F82F-A0D4-431C-93D666388405}"/>
              </a:ext>
            </a:extLst>
          </p:cNvPr>
          <p:cNvSpPr/>
          <p:nvPr/>
        </p:nvSpPr>
        <p:spPr>
          <a:xfrm>
            <a:off x="6126480" y="2007108"/>
            <a:ext cx="339063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ID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805FC9A2-6504-4EF1-C40D-5CC61F605661}"/>
              </a:ext>
            </a:extLst>
          </p:cNvPr>
          <p:cNvSpPr/>
          <p:nvPr/>
        </p:nvSpPr>
        <p:spPr>
          <a:xfrm>
            <a:off x="6075381" y="2521458"/>
            <a:ext cx="2641002" cy="45719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896112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58368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25296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1430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142646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scope &amp; objectives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56232"/>
            <a:ext cx="82296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856232"/>
            <a:ext cx="658368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856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984248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19019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783080" y="218541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threats &amp; risk matrix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658368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57200" y="2615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74320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266090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Design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783080" y="294436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STRIDE &amp; design principles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374136"/>
            <a:ext cx="82296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" y="3374136"/>
            <a:ext cx="658368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57200" y="3374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50215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341985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Implementation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783080" y="370332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guidelines &amp; defensive code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57200" y="4133088"/>
            <a:ext cx="658368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57200" y="4133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4261104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83080" y="417880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Testing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783080" y="446227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functional test cases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89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OSIS?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9202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Student Information System (OSIS) is a Java console application that manages student academic records. It demonstrates how security principles can be embedded into every phase of the Software Development Life Cycle (SDLC).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module is the primary entry point and the focus of this analysis. Every design decision directly affects the overall security posture of the platform.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23444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3990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Principles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99632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security at every SDLC phase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577840" y="242316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58775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9632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Credentials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99632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hashing, no plaintext storage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577840" y="361188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77647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99632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Against Attacks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199632" y="4023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brute-force &amp;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003A0F-C244-4160-CD07-30A9AC0DE18B}"/>
              </a:ext>
            </a:extLst>
          </p:cNvPr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A373984-0E12-33B4-0D1B-3312432DACC8}"/>
              </a:ext>
            </a:extLst>
          </p:cNvPr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8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E4BC462-835B-9FC1-CA84-D9F8A8BC5368}"/>
              </a:ext>
            </a:extLst>
          </p:cNvPr>
          <p:cNvSpPr/>
          <p:nvPr/>
        </p:nvSpPr>
        <p:spPr>
          <a:xfrm>
            <a:off x="4572000" y="1619564"/>
            <a:ext cx="3910405" cy="323079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8BD96E-2369-204A-AC62-A1E56F2E33FD}"/>
              </a:ext>
            </a:extLst>
          </p:cNvPr>
          <p:cNvSpPr/>
          <p:nvPr/>
        </p:nvSpPr>
        <p:spPr>
          <a:xfrm>
            <a:off x="365760" y="1619564"/>
            <a:ext cx="3910405" cy="323079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ADF174D-A507-FF11-9525-5254D31111E3}"/>
              </a:ext>
            </a:extLst>
          </p:cNvPr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Functional &amp; Non-Functional</a:t>
            </a:r>
            <a:endParaRPr lang="en-US" sz="2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EF3161A-8F93-226C-A3B1-0E94CBC997B9}"/>
              </a:ext>
            </a:extLst>
          </p:cNvPr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FE89CF8E-F63F-57C8-2EE4-12F4433391B6}"/>
              </a:ext>
            </a:extLst>
          </p:cNvPr>
          <p:cNvSpPr/>
          <p:nvPr/>
        </p:nvSpPr>
        <p:spPr>
          <a:xfrm>
            <a:off x="318246" y="1186703"/>
            <a:ext cx="2251935" cy="352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Functional</a:t>
            </a:r>
            <a:endParaRPr lang="en-US" sz="26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696B96A-B548-A939-092A-275F6A1402A8}"/>
              </a:ext>
            </a:extLst>
          </p:cNvPr>
          <p:cNvSpPr/>
          <p:nvPr/>
        </p:nvSpPr>
        <p:spPr>
          <a:xfrm>
            <a:off x="4484593" y="1202974"/>
            <a:ext cx="23734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Non-Functional</a:t>
            </a:r>
            <a:endParaRPr lang="en-US" sz="2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A4AD81D-F134-BB9C-B756-E2DA242A4D10}"/>
              </a:ext>
            </a:extLst>
          </p:cNvPr>
          <p:cNvSpPr/>
          <p:nvPr/>
        </p:nvSpPr>
        <p:spPr>
          <a:xfrm>
            <a:off x="525780" y="186981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login using a username and password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F8E96F-7FBD-09E3-B92E-92E594BD07C2}"/>
              </a:ext>
            </a:extLst>
          </p:cNvPr>
          <p:cNvSpPr/>
          <p:nvPr/>
        </p:nvSpPr>
        <p:spPr>
          <a:xfrm>
            <a:off x="525780" y="227215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display a role-appropriate menu after successful login </a:t>
            </a: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5A03C14C-D582-2FE2-FBAC-895225C9F926}"/>
              </a:ext>
            </a:extLst>
          </p:cNvPr>
          <p:cNvSpPr/>
          <p:nvPr/>
        </p:nvSpPr>
        <p:spPr>
          <a:xfrm>
            <a:off x="525780" y="267448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</a:rPr>
              <a:t>Students shall be able to view their own grades. </a:t>
            </a: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15A52CE0-C3A6-C49C-C51A-5D4BB82BA981}"/>
              </a:ext>
            </a:extLst>
          </p:cNvPr>
          <p:cNvSpPr/>
          <p:nvPr/>
        </p:nvSpPr>
        <p:spPr>
          <a:xfrm>
            <a:off x="525780" y="307682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</a:rPr>
              <a:t>Instructors shall be able to view all student grades. </a:t>
            </a:r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55F06E51-0926-9841-E0AB-F0152A8463D5}"/>
              </a:ext>
            </a:extLst>
          </p:cNvPr>
          <p:cNvSpPr/>
          <p:nvPr/>
        </p:nvSpPr>
        <p:spPr>
          <a:xfrm>
            <a:off x="525780" y="347915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</a:rPr>
              <a:t>Instructors shall be able to post new grades for students. </a:t>
            </a: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653C7202-9788-E649-F7F9-565CAF1246C2}"/>
              </a:ext>
            </a:extLst>
          </p:cNvPr>
          <p:cNvSpPr/>
          <p:nvPr/>
        </p:nvSpPr>
        <p:spPr>
          <a:xfrm>
            <a:off x="525780" y="388149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</a:rPr>
              <a:t>Any user shall be able to log out cleanly. 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C169909-EB39-1C0E-4667-AE93FB8B4CC4}"/>
              </a:ext>
            </a:extLst>
          </p:cNvPr>
          <p:cNvSpPr/>
          <p:nvPr/>
        </p:nvSpPr>
        <p:spPr>
          <a:xfrm>
            <a:off x="4779085" y="192467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</a:rPr>
              <a:t>All passwords must be stored as </a:t>
            </a:r>
            <a:r>
              <a:rPr lang="en-US" sz="1000" b="0" i="0" u="none" strike="noStrike" baseline="0" dirty="0" err="1">
                <a:solidFill>
                  <a:srgbClr val="000000"/>
                </a:solidFill>
              </a:rPr>
              <a:t>BCrypt</a:t>
            </a:r>
            <a:r>
              <a:rPr lang="en-US" sz="1000" b="0" i="0" u="none" strike="noStrike" baseline="0" dirty="0">
                <a:solidFill>
                  <a:srgbClr val="000000"/>
                </a:solidFill>
              </a:rPr>
              <a:t> hashes. </a:t>
            </a: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21872E6-1653-F38A-3028-BFB19FD7FE21}"/>
              </a:ext>
            </a:extLst>
          </p:cNvPr>
          <p:cNvSpPr/>
          <p:nvPr/>
        </p:nvSpPr>
        <p:spPr>
          <a:xfrm>
            <a:off x="4779085" y="232701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All database queries must use parameterized statements to prevent SQL Injection. 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F85E79A-C879-C46F-BE3F-5D0D805F5743}"/>
              </a:ext>
            </a:extLst>
          </p:cNvPr>
          <p:cNvSpPr/>
          <p:nvPr/>
        </p:nvSpPr>
        <p:spPr>
          <a:xfrm>
            <a:off x="4779085" y="272935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system must lock accounts after 5 consecutive failed login attempts. 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1F06E31D-2BB1-6C45-11F3-4E34170BB6A7}"/>
              </a:ext>
            </a:extLst>
          </p:cNvPr>
          <p:cNvSpPr/>
          <p:nvPr/>
        </p:nvSpPr>
        <p:spPr>
          <a:xfrm>
            <a:off x="4779085" y="313168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Every login attempt (success or failure) must be recorded in the audit log with a timestamp. 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056690-D1C2-E848-1E69-5AD8FFC1170B}"/>
              </a:ext>
            </a:extLst>
          </p:cNvPr>
          <p:cNvSpPr/>
          <p:nvPr/>
        </p:nvSpPr>
        <p:spPr>
          <a:xfrm>
            <a:off x="4779085" y="353402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Error messages must be generic and must not reveal whether the username or the password was incorrect. </a:t>
            </a: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95FA3362-57A5-3965-C9ED-B1E6F34649E2}"/>
              </a:ext>
            </a:extLst>
          </p:cNvPr>
          <p:cNvSpPr/>
          <p:nvPr/>
        </p:nvSpPr>
        <p:spPr>
          <a:xfrm>
            <a:off x="4779085" y="393635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login process must complete within 3 seconds under normal conditions. </a:t>
            </a:r>
          </a:p>
        </p:txBody>
      </p:sp>
    </p:spTree>
    <p:extLst>
      <p:ext uri="{BB962C8B-B14F-4D97-AF65-F5344CB8AC3E}">
        <p14:creationId xmlns:p14="http://schemas.microsoft.com/office/powerpoint/2010/main" val="99270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Security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Credentials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55064"/>
            <a:ext cx="100584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655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41605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167128"/>
            <a:ext cx="10058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679192"/>
            <a:ext cx="100584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2679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41605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1638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191256"/>
            <a:ext cx="100584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3191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2102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758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Credentials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703320"/>
            <a:ext cx="100584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 Requirements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572768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1572768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57276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68112" y="1609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(cost factor ≥ 10)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956816"/>
            <a:ext cx="40233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956816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19568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68112" y="1993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— no dynamic SQL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40864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2340864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234086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68112" y="2377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input validation (regex)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724912"/>
            <a:ext cx="40233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2724912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27249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68112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limit: 3 attempts per run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108960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3108960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310896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68112" y="3145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after 5 failures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493008"/>
            <a:ext cx="40233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54880" y="3493008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54880" y="34930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68112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error messages — no enumeration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3877056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54880" y="3877056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54880" y="387705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68112" y="3913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for all DB objects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4261104"/>
            <a:ext cx="40233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754880" y="4261104"/>
            <a:ext cx="658368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54880" y="426110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68112" y="4297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errors logged to stderr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Identification (STRIDE)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527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12527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12527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093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609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/ Info Disclosure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1636776"/>
            <a:ext cx="82296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1636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0025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2002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002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2029968"/>
            <a:ext cx="82296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20299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359152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3957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Enumeration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2423160"/>
            <a:ext cx="822960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06640" y="24231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752344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2816352"/>
            <a:ext cx="82296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06640" y="28163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1821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3182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Priv. Escalation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49040" y="3182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3209544"/>
            <a:ext cx="822960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06640" y="3209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538728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575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97280" y="3575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Tampering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49040" y="3575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/ Repudiation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06640" y="3602736"/>
            <a:ext cx="822960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06640" y="36027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39684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" y="39684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DoS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49040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3995928"/>
            <a:ext cx="822960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06640" y="3995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325112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3616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7280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Disclosure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749040" y="4361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06640" y="4389120"/>
            <a:ext cx="822960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406640" y="43891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Matrix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 rot="16200000">
            <a:off x="-66226" y="2710861"/>
            <a:ext cx="822960" cy="50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5354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1338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609344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6093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" y="159778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176272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" y="216470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100584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" y="273163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310128"/>
            <a:ext cx="100584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3101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" y="329856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877056"/>
            <a:ext cx="100584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8770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" y="38654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11338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1609344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20240" y="16093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920240" y="2176272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20240" y="2176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920240" y="2743200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2024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20240" y="3310128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920240" y="33101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920240" y="3877056"/>
            <a:ext cx="100584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20240" y="38770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926080" y="11338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26080" y="1609344"/>
            <a:ext cx="10058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0" y="16093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926080" y="2176272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26080" y="2176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926080" y="2743200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2608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926080" y="3310128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26080" y="33101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926080" y="3877056"/>
            <a:ext cx="100584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26080" y="38770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931920" y="11338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31920" y="1609344"/>
            <a:ext cx="10058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31920" y="16093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931920" y="2176272"/>
            <a:ext cx="10058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931920" y="2176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931920" y="2743200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3192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931920" y="3310128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31920" y="33101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931920" y="3877056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931920" y="38770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937760" y="11338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37760" y="1609344"/>
            <a:ext cx="10058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37760" y="16093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937760" y="2176272"/>
            <a:ext cx="10058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37760" y="2176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4937760" y="2743200"/>
            <a:ext cx="100584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3776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4937760" y="3310128"/>
            <a:ext cx="10058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37760" y="33101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4937760" y="3877056"/>
            <a:ext cx="10058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37760" y="38770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035040" y="13008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035040" y="1639196"/>
            <a:ext cx="32004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446520" y="16391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(15-25)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35040" y="2050676"/>
            <a:ext cx="3200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446520" y="20506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(8-14)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35040" y="2462156"/>
            <a:ext cx="32004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46520" y="24621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(4-7)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035040" y="2873636"/>
            <a:ext cx="32004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446520" y="28736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(1-3)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0350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Scores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035040" y="363931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172200" y="36850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T-01 SQL Injection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183880" y="3694176"/>
            <a:ext cx="45720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183880" y="36941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035040" y="405079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172200" y="40965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T-02 Brute Force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183880" y="4105656"/>
            <a:ext cx="45720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183880" y="41056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035040" y="446227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172200" y="4507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T-04 Credential Theft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183880" y="4517136"/>
            <a:ext cx="457200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183880" y="4517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BF438AAC-A826-6706-A2C4-50CA755484A4}"/>
              </a:ext>
            </a:extLst>
          </p:cNvPr>
          <p:cNvSpPr/>
          <p:nvPr/>
        </p:nvSpPr>
        <p:spPr>
          <a:xfrm>
            <a:off x="952053" y="1288234"/>
            <a:ext cx="3194012" cy="180331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D5BDF839-64A9-EB4E-59FC-E5832D19EB7C}"/>
              </a:ext>
            </a:extLst>
          </p:cNvPr>
          <p:cNvSpPr/>
          <p:nvPr/>
        </p:nvSpPr>
        <p:spPr>
          <a:xfrm>
            <a:off x="4965998" y="1299926"/>
            <a:ext cx="3194012" cy="180331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082EE4B7-0B27-7C59-A01A-773D86E01CAD}"/>
              </a:ext>
            </a:extLst>
          </p:cNvPr>
          <p:cNvSpPr/>
          <p:nvPr/>
        </p:nvSpPr>
        <p:spPr>
          <a:xfrm>
            <a:off x="947348" y="3133037"/>
            <a:ext cx="3194012" cy="180331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DE90BF73-0F3C-BCC7-BDDE-42A32839501F}"/>
              </a:ext>
            </a:extLst>
          </p:cNvPr>
          <p:cNvSpPr/>
          <p:nvPr/>
        </p:nvSpPr>
        <p:spPr>
          <a:xfrm>
            <a:off x="4965998" y="3083006"/>
            <a:ext cx="3194012" cy="180331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D27AC060-5C40-9F4C-5C5D-31AF3E8809C1}"/>
              </a:ext>
            </a:extLst>
          </p:cNvPr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865829D-307A-F5AC-3965-BB99623959B1}"/>
              </a:ext>
            </a:extLst>
          </p:cNvPr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cases</a:t>
            </a:r>
            <a:endParaRPr lang="en-US" sz="26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5021F74-7657-E4A9-BCA1-2D25702BD5D3}"/>
              </a:ext>
            </a:extLst>
          </p:cNvPr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771FAB4-08CC-CA81-79C1-9550B9610FC3}"/>
              </a:ext>
            </a:extLst>
          </p:cNvPr>
          <p:cNvSpPr/>
          <p:nvPr/>
        </p:nvSpPr>
        <p:spPr>
          <a:xfrm>
            <a:off x="1611630" y="1268398"/>
            <a:ext cx="20439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on Login</a:t>
            </a:r>
            <a:endParaRPr lang="en-US" sz="13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1A6DC60-C846-0403-FF27-2342F5BEBD4C}"/>
              </a:ext>
            </a:extLst>
          </p:cNvPr>
          <p:cNvSpPr/>
          <p:nvPr/>
        </p:nvSpPr>
        <p:spPr>
          <a:xfrm>
            <a:off x="5613979" y="1272044"/>
            <a:ext cx="20698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Harvesting</a:t>
            </a:r>
            <a:endParaRPr lang="en-US" sz="13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AFD46F18-5738-9A81-7C14-04D49056098B}"/>
              </a:ext>
            </a:extLst>
          </p:cNvPr>
          <p:cNvSpPr/>
          <p:nvPr/>
        </p:nvSpPr>
        <p:spPr>
          <a:xfrm>
            <a:off x="1318146" y="3108772"/>
            <a:ext cx="27751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Password Guessing</a:t>
            </a:r>
            <a:endParaRPr lang="en-US" sz="1300" dirty="0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841DE8F7-001F-E7FC-DC62-49F5E1111F36}"/>
              </a:ext>
            </a:extLst>
          </p:cNvPr>
          <p:cNvSpPr/>
          <p:nvPr/>
        </p:nvSpPr>
        <p:spPr>
          <a:xfrm>
            <a:off x="5427902" y="3093348"/>
            <a:ext cx="24877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Account Lockout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A00D354-6876-0382-658D-24E57FC4A63D}"/>
              </a:ext>
            </a:extLst>
          </p:cNvPr>
          <p:cNvSpPr/>
          <p:nvPr/>
        </p:nvSpPr>
        <p:spPr>
          <a:xfrm>
            <a:off x="1126194" y="1607034"/>
            <a:ext cx="2514600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Gain access without valid credentials</a:t>
            </a: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676C7675-271C-54FC-3811-FDC378CCD8EB}"/>
              </a:ext>
            </a:extLst>
          </p:cNvPr>
          <p:cNvSpPr/>
          <p:nvPr/>
        </p:nvSpPr>
        <p:spPr>
          <a:xfrm>
            <a:off x="1116781" y="1925804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 a payload such as  ' OR '1'='1  as the username to manipulate the SQL query.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85EA29F0-9DA6-A81A-0FB3-1BB38F513D6B}"/>
              </a:ext>
            </a:extLst>
          </p:cNvPr>
          <p:cNvSpPr/>
          <p:nvPr/>
        </p:nvSpPr>
        <p:spPr>
          <a:xfrm>
            <a:off x="1116780" y="2451063"/>
            <a:ext cx="2976505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Countermeasure: </a:t>
            </a:r>
            <a:r>
              <a:rPr lang="en-US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PreparedStatement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bind parameters ensures the input is treated as data, </a:t>
            </a:r>
            <a:endParaRPr lang="ar-YE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 executable SQL.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3032BB9-98E7-A692-4960-2E9F0DA135F5}"/>
              </a:ext>
            </a:extLst>
          </p:cNvPr>
          <p:cNvSpPr/>
          <p:nvPr/>
        </p:nvSpPr>
        <p:spPr>
          <a:xfrm>
            <a:off x="1147710" y="3870057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Systematically try common passwords against a known username.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AA40B3D-218F-E8A5-C2D2-1E4E0D21F7C9}"/>
              </a:ext>
            </a:extLst>
          </p:cNvPr>
          <p:cNvSpPr/>
          <p:nvPr/>
        </p:nvSpPr>
        <p:spPr>
          <a:xfrm>
            <a:off x="1126194" y="4346224"/>
            <a:ext cx="2976505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Countermeasure: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Account is locked after </a:t>
            </a:r>
          </a:p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failed attempts; session is terminated after </a:t>
            </a:r>
          </a:p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failures per run.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AFEEEEDE-95E1-A2E0-F770-8E626DCBBDD4}"/>
              </a:ext>
            </a:extLst>
          </p:cNvPr>
          <p:cNvSpPr/>
          <p:nvPr/>
        </p:nvSpPr>
        <p:spPr>
          <a:xfrm>
            <a:off x="1162500" y="3436120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Guess a valid password through </a:t>
            </a:r>
          </a:p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repeated attempts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CEB62AFD-CFAE-FBC0-66F7-D0091946F76B}"/>
              </a:ext>
            </a:extLst>
          </p:cNvPr>
          <p:cNvSpPr/>
          <p:nvPr/>
        </p:nvSpPr>
        <p:spPr>
          <a:xfrm>
            <a:off x="5205021" y="2012541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Observe different error messages for invalid usernames vs. wrong passwords.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3004B90-2683-D45D-C971-9CE8A584A511}"/>
              </a:ext>
            </a:extLst>
          </p:cNvPr>
          <p:cNvSpPr/>
          <p:nvPr/>
        </p:nvSpPr>
        <p:spPr>
          <a:xfrm>
            <a:off x="5183505" y="2477420"/>
            <a:ext cx="2976505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Countermeasure: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returns the identical message 'Invalid username or password’ </a:t>
            </a:r>
          </a:p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both cases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9FF2D58-DCCB-C3D6-7401-504421F8F065}"/>
              </a:ext>
            </a:extLst>
          </p:cNvPr>
          <p:cNvSpPr/>
          <p:nvPr/>
        </p:nvSpPr>
        <p:spPr>
          <a:xfrm>
            <a:off x="5219811" y="1610453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Discover which usernames exist in the system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2EC12CFA-7CF2-6B8F-D4E5-469618AFA925}"/>
              </a:ext>
            </a:extLst>
          </p:cNvPr>
          <p:cNvSpPr/>
          <p:nvPr/>
        </p:nvSpPr>
        <p:spPr>
          <a:xfrm>
            <a:off x="5171405" y="3771902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Intentionally enter wrong passwords for a known victim's username until it locks.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86F0EF03-2674-1883-3DA5-7CD40514F651}"/>
              </a:ext>
            </a:extLst>
          </p:cNvPr>
          <p:cNvSpPr/>
          <p:nvPr/>
        </p:nvSpPr>
        <p:spPr>
          <a:xfrm>
            <a:off x="5149889" y="4250812"/>
            <a:ext cx="2976505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Countermeasure: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Administrator-controlled </a:t>
            </a:r>
          </a:p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unlock process; audit log records the attacker’s activity.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151E78D1-4D86-FD01-F3F1-30A2DCBC7DC2}"/>
              </a:ext>
            </a:extLst>
          </p:cNvPr>
          <p:cNvSpPr/>
          <p:nvPr/>
        </p:nvSpPr>
        <p:spPr>
          <a:xfrm>
            <a:off x="5186195" y="3368722"/>
            <a:ext cx="2638314" cy="508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Lock out a legitimate user's account to deny them access.</a:t>
            </a:r>
            <a:endParaRPr lang="en-US" sz="1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66A69A7C-5947-070F-1837-70642DC3CE27}"/>
              </a:ext>
            </a:extLst>
          </p:cNvPr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9725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STRIDE Threat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2062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+ Scanner — raw input/output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20624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— whitelist + length checks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4206240" cy="457200"/>
          </a:xfrm>
          <a:prstGeom prst="rect">
            <a:avLst/>
          </a:prstGeom>
          <a:solidFill>
            <a:srgbClr val="005A8E"/>
          </a:solidFill>
          <a:ln w="12700">
            <a:solidFill>
              <a:srgbClr val="00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620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login(), showMenu() — auth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4206240" cy="457200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18211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924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lockout, audit log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4206240" cy="457200"/>
          </a:xfrm>
          <a:prstGeom prst="rect">
            <a:avLst/>
          </a:prstGeom>
          <a:solidFill>
            <a:srgbClr val="002850"/>
          </a:solidFill>
          <a:ln w="12700">
            <a:solidFill>
              <a:srgbClr val="00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124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9227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helpers — parameterized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4206240" cy="457200"/>
          </a:xfrm>
          <a:prstGeom prst="rect">
            <a:avLst/>
          </a:prstGeom>
          <a:solidFill>
            <a:srgbClr val="001730"/>
          </a:solidFill>
          <a:ln w="12700">
            <a:solidFill>
              <a:srgbClr val="00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24281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453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users, grades, audit_log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234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Mapping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57276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572768"/>
            <a:ext cx="34747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572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159105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180136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→ PreparedStatement + BCrypt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103120"/>
            <a:ext cx="397764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2103120"/>
            <a:ext cx="34747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103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212140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233172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edits → Parameterized UPDATE + role check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633472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2633472"/>
            <a:ext cx="34747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63347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12080" y="26517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2862072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denial → Audit log with timestamps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163824"/>
            <a:ext cx="397764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3163824"/>
            <a:ext cx="34747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316382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12080" y="318211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 Disclosure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3392424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 → BCrypt; user enum → generic msg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369417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00600" y="3694176"/>
            <a:ext cx="34747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36941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212080" y="371246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3922776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→ Admin unlock + audit trail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4224528"/>
            <a:ext cx="397764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00600" y="4224528"/>
            <a:ext cx="34747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00600" y="42245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212080" y="424281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of Privilege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12080" y="445312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spoofing → Role from DB only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 Principles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7218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721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0848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user sis_app_user has SELECT/INSERT/UPDATE only. No DROP or DELETE.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26187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7218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4721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20848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→ PreparedStatement → BCrypt → Lockout → Audit Log — 5 independent layers.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26187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72184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14721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Security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20848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everywhere. try-with-resources prevents connection leaks.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04495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5526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255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" y="386791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cost-10 with auto-salt. Constant-time comparison prevents timing attacks.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91840" y="304495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5526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69080" y="3255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29000" y="386791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read from DB post-auth. Menu options enforced server-side, never from input.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17920" y="304495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55264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95160" y="3255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355080" y="386791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path leads to a safe state. DB errors go to System.err, not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Guidelines &amp; Defensive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Secure Coding Guidelines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15727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PreparedStatement with bind parameters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97510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with BCrypt before 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3774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at the earliest possible 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77977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generic error messages — never specific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1821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System.err (dev) from System.out (user)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5844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try-with-resources for all DB objects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398678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roles from the DB — never from user input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43891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authentication attempt in audit_log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572768"/>
            <a:ext cx="411480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— Never do this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828800"/>
            <a:ext cx="4114800" cy="594360"/>
          </a:xfrm>
          <a:prstGeom prst="rect">
            <a:avLst/>
          </a:prstGeom>
          <a:solidFill>
            <a:srgbClr val="1E0000"/>
          </a:solidFill>
          <a:ln w="12700">
            <a:solidFill>
              <a:srgbClr val="5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18470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* FROM users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username = '" + username + "'";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542032"/>
            <a:ext cx="4114800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— Used in Login.java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798064"/>
            <a:ext cx="4114800" cy="1005840"/>
          </a:xfrm>
          <a:prstGeom prst="rect">
            <a:avLst/>
          </a:prstGeom>
          <a:solidFill>
            <a:srgbClr val="001A00"/>
          </a:solidFill>
          <a:ln w="12700">
            <a:solidFill>
              <a:srgbClr val="0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2816352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id, password_hash,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role, account_locked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users WHERE username = ?";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ps.setString(1, username); // safe bind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913632"/>
            <a:ext cx="41148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(Whitelist)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169664"/>
            <a:ext cx="41148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41879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(!username.matches("[a-zA-Z0-9_]{3,30}"))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"Invalid username format.";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5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Functional Test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 Cases  (1 per threat)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05840" y="1591056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1746504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rejects ' OR 1=1 before DB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975104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7510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05840" y="199339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14884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locks after 5 wrong attempts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5840" y="239572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Enumeration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551176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message for all login failures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779776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7797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05840" y="279806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2953512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contains BCrypt hashes, not plaintext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182112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182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05840" y="320040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Priv. Escalation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3355848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menu has no instructor options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584448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3584448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5844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05840" y="3602736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" y="3758184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recorded with timestamp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98678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3986784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9867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05840" y="400507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" y="416052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exits after 3 failures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420624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4389120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3891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TC-S08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05840" y="440740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Disclosure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" y="4562856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errors only appear on System.err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5488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Cases  (2 per function)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54880" y="1572768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54880" y="1572768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54880" y="15727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58384" y="1581912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58384" y="171907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 → success + welcome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4880" y="1911096"/>
            <a:ext cx="402336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54880" y="1911096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0" y="19110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58384" y="1920240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58384" y="2057400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→ generic error, counter++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54880" y="2249424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54880" y="2249424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54880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358384" y="225856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58384" y="2395728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username → rejected instantly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54880" y="2587752"/>
            <a:ext cx="402336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754880" y="2587752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754880" y="25877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TC-F04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58384" y="2596896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358384" y="2734056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password → rejected before DB call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54880" y="292608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754880" y="2926080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54880" y="2926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TC-F05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58384" y="2935224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viewGrades()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58384" y="3072384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exist → table displayed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754880" y="3264408"/>
            <a:ext cx="402336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754880" y="3264408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54880" y="3264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TC-F06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358384" y="3273552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viewGrades()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58384" y="341071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grades → 'No grades posted yet'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754880" y="3602736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754880" y="3602736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754880" y="36027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TC-F07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358384" y="3611880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postGrade()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358384" y="3749040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grade → inserted to DB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754880" y="3941064"/>
            <a:ext cx="402336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754880" y="3941064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754880" y="39410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TC-F08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358384" y="395020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postGrade()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358384" y="4087368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'X' → rejected (not A–F)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754880" y="4279392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754880" y="4279392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754880" y="4279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TC-F09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358384" y="4288536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updateGrade()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358384" y="4425696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update → DB row changed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617720"/>
            <a:ext cx="402336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4754880" y="4617720"/>
            <a:ext cx="54864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754880" y="46177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TC-F11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358384" y="4626864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logout()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358384" y="4764024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Logout → session ends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957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1064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13807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security layers work together so no single point of failure exists.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819656"/>
            <a:ext cx="832104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476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8992" y="21488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is structurally impossible — input is data, never SQL syntax.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2587752"/>
            <a:ext cx="832104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1576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2642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78992" y="2916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protected at rest with adaptive, salted hashing.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11480" y="3355848"/>
            <a:ext cx="832104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8386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3410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78992" y="368503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are derived from the database exclusively — never from user input.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11480" y="4123944"/>
            <a:ext cx="832104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5196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78992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78992" y="44531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attempt is logged with timestamp and outcome for forensic use.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7432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0" y="3703320"/>
            <a:ext cx="4572000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Secure Information System  |  </a:t>
            </a: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89</TotalTime>
  <Words>1459</Words>
  <Application>Microsoft Office PowerPoint</Application>
  <PresentationFormat>On-screen Show (16:9)</PresentationFormat>
  <Paragraphs>369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 Security Report</dc:title>
  <dc:subject>Secure Student Information System</dc:subject>
  <dc:creator>Project Team</dc:creator>
  <cp:lastModifiedBy>amgadalesmaily@gmail.com</cp:lastModifiedBy>
  <cp:revision>6</cp:revision>
  <dcterms:created xsi:type="dcterms:W3CDTF">2026-05-09T08:39:38Z</dcterms:created>
  <dcterms:modified xsi:type="dcterms:W3CDTF">2026-05-10T11:08:12Z</dcterms:modified>
</cp:coreProperties>
</file>